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0" r:id="rId3"/>
    <p:sldId id="261" r:id="rId4"/>
    <p:sldId id="281" r:id="rId5"/>
    <p:sldId id="263" r:id="rId6"/>
    <p:sldId id="265" r:id="rId7"/>
    <p:sldId id="264" r:id="rId8"/>
    <p:sldId id="266" r:id="rId9"/>
    <p:sldId id="282" r:id="rId10"/>
    <p:sldId id="267" r:id="rId11"/>
    <p:sldId id="283" r:id="rId12"/>
    <p:sldId id="285" r:id="rId13"/>
    <p:sldId id="286" r:id="rId14"/>
    <p:sldId id="287" r:id="rId15"/>
    <p:sldId id="295" r:id="rId16"/>
    <p:sldId id="297" r:id="rId17"/>
    <p:sldId id="298" r:id="rId18"/>
    <p:sldId id="299" r:id="rId19"/>
    <p:sldId id="25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374" autoAdjust="0"/>
  </p:normalViewPr>
  <p:slideViewPr>
    <p:cSldViewPr snapToGrid="0">
      <p:cViewPr varScale="1">
        <p:scale>
          <a:sx n="89" d="100"/>
          <a:sy n="89" d="100"/>
        </p:scale>
        <p:origin x="50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5953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9203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56043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104644" y="4860435"/>
            <a:ext cx="9291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Flats for Sale Across Hyderabad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Pro Kabaddi League - Wikipedia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135" y="3760720"/>
            <a:ext cx="1237779" cy="442506"/>
          </a:xfrm>
          <a:prstGeom prst="rect">
            <a:avLst/>
          </a:prstGeom>
          <a:ln>
            <a:noFill/>
          </a:ln>
          <a:effectLst>
            <a:glow rad="127000">
              <a:schemeClr val="accent1">
                <a:alpha val="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7F8FFFE-FA03-4507-3BE1-EA088820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350" y="2994444"/>
            <a:ext cx="35433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A749-6D4D-68BF-7D83-9A1E95CC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330411"/>
          </a:xfrm>
        </p:spPr>
        <p:txBody>
          <a:bodyPr>
            <a:normAutofit lnSpcReduction="10000"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P.Sireesha </a:t>
            </a:r>
            <a:r>
              <a:rPr 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graduate passionate about Data Analytics and Visualization.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data-driven insights through real-world datasets.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web data extraction and business trend analysis.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http://www.linkedin.com/in/sireesha-peruri-a5a91a227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https://github.com/perurisiri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707" y="1992701"/>
            <a:ext cx="7478157" cy="392501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Buying a flat online is easy — but finding the right one among hundreds of listings is challenging.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 platforms contain large amounts of scattered information that is difficult to compare manually.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why I chose to scrape data — to turn messy website information into a clean, usable dataset.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provides an automated way to collect data directly from websites without manual copying.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project, I transformed raw web data into insights that help understand pricing trends, top locations, and buying patterns.</a:t>
            </a:r>
          </a:p>
          <a:p>
            <a:endParaRPr lang="en-US" sz="2000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/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A4D661-2DCB-696D-5140-7585B44F2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753" y="1622955"/>
            <a:ext cx="2803584" cy="40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35028" y="1570008"/>
            <a:ext cx="70196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estate buyers and investors face challenges in comparing property prices, configurations, and locations due to scattered online listings.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portals contain vast data, but manually analyzing it is time-consuming and inefficient.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insights makes it difficult to identify trends, price patterns, and high-demand areas.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systematic approach to extract, organize, and analyze property data for better decision-making.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1A49D75C-F22B-5144-200D-B524FD458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192" y="2782468"/>
            <a:ext cx="3847208" cy="235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2FBA1252-E74B-8649-F717-6163F253B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93915" y="1589086"/>
            <a:ext cx="929750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analyze property listings for flats in Hyderabad using web-scraped data from real-estate websites.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data-driven insights that help buyers, sellers, and analysts understand pricing trends, locality advantages, property sizes, and market patterns.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locality-wise price variations, BHK configurations, price-per-</a:t>
            </a:r>
            <a:r>
              <a:rPr kumimoji="0" lang="en-US" altLang="en-US" sz="200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r>
              <a:rPr kumimoji="0" lang="en-US" altLang="en-US" sz="20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patterns, and factors influencing property valuation across Hyderabad.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market trends over time, compare flat availability across regions, and identify emerging high-demand or high-value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localities in the city.</a:t>
            </a: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79" y="0"/>
            <a:ext cx="3664785" cy="110907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311377" y="1017917"/>
            <a:ext cx="7392011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real estate data for flats in Hyderabad from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 Yards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Python (Requests + BeautifulSoup) to automatically extract data instead of manual copying.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Scraped key details such as Price, BHK, Location, Property Type, Area,Property_type and other property features.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the extracted data into a structured CSV file for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extraction, performed data cleaning and preprocessing to handle missing values, formatting, and duplicate entries.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Pagination logic was automated to scrape several listing pages without manual intervention.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9F8E42-B428-F5E5-D117-3AD7C067D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849" y="256098"/>
            <a:ext cx="4709474" cy="1349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4CEFAA-8828-3FB2-D415-E5DFD406B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849" y="1768745"/>
            <a:ext cx="4709474" cy="23297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2BBFFD-0368-13E8-F255-0916FE8BE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228" y="4330459"/>
            <a:ext cx="3421297" cy="18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459" y="1455612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685" y="4651892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453" y="4505471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839" y="2889693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379" y="2924779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39" y="353633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310551" y="1276709"/>
            <a:ext cx="661367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unwanted characters like \n, commas, and symbols (₹, Sq.ft.,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structured fields (BHK, Area, Location, Price) using regex.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price values into a consistent numeric format (Lakhs).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using mean and mode  where required.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 irrelevant records (like Studio or RK listings).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text formatting (lowercase, trimmed spaces).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important columns from text to numeric type for analysis.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B82C39-ACEC-FF92-6D46-AFA98F54E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131" y="3843669"/>
            <a:ext cx="4989236" cy="22552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3532C1-490F-5910-4386-A824302CD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230" y="1077305"/>
            <a:ext cx="5051137" cy="255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9B3D8-24F0-BFDD-F8CA-E6AACD40E032}"/>
              </a:ext>
            </a:extLst>
          </p:cNvPr>
          <p:cNvSpPr txBox="1"/>
          <p:nvPr/>
        </p:nvSpPr>
        <p:spPr>
          <a:xfrm>
            <a:off x="396240" y="969357"/>
            <a:ext cx="748830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shows how flat prices are spread across the Hyderabad market.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right-skewed, meaning most flats are in the lower price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listings fall between 80–250 Lakhs, indicating the most common and affordable segment.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small portion of properties are priced above 400 Lakhs, representing luxury listings.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very high-priced properties (up to 1000 Lakhs) show the presence of ultra-premium flats.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demand is highest for mid-range properties, with fewer buyers and listings in the luxury segment</a:t>
            </a:r>
            <a:r>
              <a:rPr lang="en-US" sz="2000" dirty="0"/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90994-4098-861D-45C4-6240F18BA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961" y="897148"/>
            <a:ext cx="4042801" cy="422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144462"/>
            <a:ext cx="5364480" cy="1113820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155575" y="969357"/>
            <a:ext cx="777938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bar chart shows the count of listed properties across major locations in Hyderabad.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Narsingi has the highest number of listings (around 500 properties), indicating it is currently one of the most active and in-demand real estate markets.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Kondapur and Kokapet rank next, with approximately 250–240 listings, showing strong residential development in these IT-connected areas.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Locations like Financial District, Tellapur, and Miyapur fall in the mid-range, reflecting growing but still developing property markets.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lowest listings are observed in Kollur ,  Bachupally , Gachibowli, and Puppalaguda.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39401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F9F99B-1F00-81F8-0BA6-710AA8FDDF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98"/>
          <a:stretch>
            <a:fillRect/>
          </a:stretch>
        </p:blipFill>
        <p:spPr>
          <a:xfrm>
            <a:off x="7848697" y="1611839"/>
            <a:ext cx="4257039" cy="363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890F0-5585-BA3C-7BA1-63E4312F4CE6}"/>
              </a:ext>
            </a:extLst>
          </p:cNvPr>
          <p:cNvSpPr txBox="1"/>
          <p:nvPr/>
        </p:nvSpPr>
        <p:spPr>
          <a:xfrm>
            <a:off x="899160" y="4091940"/>
            <a:ext cx="105537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 plot shows price variation across top real-estate locations.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Kondapur, Gachibowli, Narsingi show the widest price ranges, indicating premium and diverse listings.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Bachupally, Miyapur, Kollur have more compact price ranges, showing affordability and price consistency.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District has higher median prices with moderate spread.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to identify high-variance locations vs stable pricing areas for buyers and investors.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5E85E-1E32-2D53-844B-A211206AA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914125"/>
            <a:ext cx="9154161" cy="31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DA59B-D0E2-7AF9-BC1F-21767A3BA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39" y="1337095"/>
            <a:ext cx="4657001" cy="43442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796DD1-3D97-B711-AF95-EBEDAC2C7C94}"/>
              </a:ext>
            </a:extLst>
          </p:cNvPr>
          <p:cNvSpPr txBox="1"/>
          <p:nvPr/>
        </p:nvSpPr>
        <p:spPr>
          <a:xfrm>
            <a:off x="399873" y="969357"/>
            <a:ext cx="703506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 Area vs Price (Colored by BHK) shows how property size relates to pricing across different BHK configurations.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properties fall between 500–4000 sq.ft in area and 50–700 lakhs in price, forming the main cluster.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plot shows a strong positive relationship between area and price — larger homes generally cost more.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1–2 BHK units dominate the lower area and lower price segment, representing budget-friendly properties.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3–4 BHK homes appear in the mid-range, reflecting typical mid-premium residential 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5–6 BHK properties are mostly found in higher area and price ranges, showing they belong to luxury categories.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DFE87-3B98-24A9-3C1B-2A43B4D9DD06}"/>
              </a:ext>
            </a:extLst>
          </p:cNvPr>
          <p:cNvSpPr txBox="1"/>
          <p:nvPr/>
        </p:nvSpPr>
        <p:spPr>
          <a:xfrm>
            <a:off x="284481" y="1280160"/>
            <a:ext cx="690995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displays the correlation strength between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_Lakhs, BHK, and Area num.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Area have the strongest positive correlation (0.79), meaning bigger flats usually cost more.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BHK also show a moderate positive correlation (0.61), indicating higher BHK flats are generally more expensive.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and BHK correlate at 0.69, showing larger homes typically have more bedrooms.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all variables are positively related, with Area being the biggest driver of price.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33C970-E309-C7A3-CE24-FC1A64747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89" y="1693976"/>
            <a:ext cx="3502357" cy="315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E88-4526-D32F-FA99-F8D0DD33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ECB-3EDE-E23F-4E4E-253ECB3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B78EE-0C3D-3803-7D4F-15BE5F66CE98}"/>
              </a:ext>
            </a:extLst>
          </p:cNvPr>
          <p:cNvSpPr txBox="1"/>
          <p:nvPr/>
        </p:nvSpPr>
        <p:spPr>
          <a:xfrm>
            <a:off x="293298" y="1250829"/>
            <a:ext cx="6952891" cy="5796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plot compares Price, BHK, and Area based on Property Status (Ready vs Under Construction).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distribution is right-skewed, with most flats in lower price ranges.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Ready-to-Move properties appear more often in higher-priced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2BHK and 3BHK clusters are the most common across both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upward trend shows that Price increases with BHK and Area.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Under-construction homes have a more consistent price range, while Ready homes show greater price variation.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D8A1E4-8752-5BB7-BCC8-E822F6C9A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upward trend shows that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increases with BHK and Area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DB0BA3-B768-BB52-CE87-DCB28BBD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416" y="1811547"/>
            <a:ext cx="5042191" cy="353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03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A0CE-8274-A1F5-3A9F-98D981522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41" y="100387"/>
            <a:ext cx="7763435" cy="89469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30632-BBBE-7E42-5C8B-2887796D6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4261" y="1264024"/>
            <a:ext cx="8676563" cy="4228275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price distribution of flats in Hyderabad?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locations have the highest and lowest average property prices?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do price trends vary based on BHK configuration?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Ready-to-Move properties cost more than Under-Construction ones?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price range is most suitable for budget, mid-range, and luxury buyers?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448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0" y="24713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Experience– Web Scraping &amp; Data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5608D9-1735-0142-AAF8-1110DAFC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5360" y="1655455"/>
            <a:ext cx="938390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Scraped Square Yards data from multiple websites pages using Python (BeautifulSoup, pandas).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data (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price, BHK).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visualizations showing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locality-wise price variations, BHK configurations,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price_per_sqft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patterns, and factors influencing property valuation across Hyderabad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end-to-end data workflow: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scraping → cleaning → analysis → visualization.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88F87-09D6-310A-575A-399768B2B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64110" y="1714728"/>
            <a:ext cx="844333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inconsistent text formats (₹, Cr, Lakh, ranges, unwanted symbols).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structured values like BHK, Price, and Area using regex.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missing and noisy data such as "Price on Request" and blank fields.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Overcoming request blocks and slow scraping.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Structuring the dataset for visualization and meaningful insights.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most meaningful visuals for insights.</a:t>
            </a: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432D6B9-E3ED-8C6A-61B4-B0523C6D21BF}"/>
              </a:ext>
            </a:extLst>
          </p:cNvPr>
          <p:cNvSpPr txBox="1">
            <a:spLocks/>
          </p:cNvSpPr>
          <p:nvPr/>
        </p:nvSpPr>
        <p:spPr>
          <a:xfrm>
            <a:off x="2708694" y="1224950"/>
            <a:ext cx="5745193" cy="351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Q&amp;A</a:t>
            </a:r>
          </a:p>
        </p:txBody>
      </p:sp>
    </p:spTree>
    <p:extLst>
      <p:ext uri="{BB962C8B-B14F-4D97-AF65-F5344CB8AC3E}">
        <p14:creationId xmlns:p14="http://schemas.microsoft.com/office/powerpoint/2010/main" val="3681481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,800+ Thank You Presentation Stock Photos, Pictures &amp; Royalty-Free Images  - iStock | Thank you for listening, Thank you sign, Thank you note">
            <a:extLst>
              <a:ext uri="{FF2B5EF4-FFF2-40B4-BE49-F238E27FC236}">
                <a16:creationId xmlns:a16="http://schemas.microsoft.com/office/drawing/2014/main" id="{20A35851-7728-0177-9AC4-06858B17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345" y="692727"/>
            <a:ext cx="997527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1320</Words>
  <Application>Microsoft Office PowerPoint</Application>
  <PresentationFormat>Widescreen</PresentationFormat>
  <Paragraphs>135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Calibri</vt:lpstr>
      <vt:lpstr>Office Theme</vt:lpstr>
      <vt:lpstr>PowerPoint Presentation</vt:lpstr>
      <vt:lpstr>About Me:</vt:lpstr>
      <vt:lpstr>Introduction:</vt:lpstr>
      <vt:lpstr>Business Problem:</vt:lpstr>
      <vt:lpstr>Objectives:</vt:lpstr>
      <vt:lpstr>Web Scraping:</vt:lpstr>
      <vt:lpstr>Tools Used:</vt:lpstr>
      <vt:lpstr>Data Cleaning Steps: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Key Business Questions</vt:lpstr>
      <vt:lpstr>Experience– Web Scraping &amp; Data Analysis:</vt:lpstr>
      <vt:lpstr>Challenges – Web Scraping &amp; Data Analysis: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Sireesha Peruri</cp:lastModifiedBy>
  <cp:revision>47</cp:revision>
  <dcterms:created xsi:type="dcterms:W3CDTF">2021-02-16T05:19:01Z</dcterms:created>
  <dcterms:modified xsi:type="dcterms:W3CDTF">2025-11-21T17:30:49Z</dcterms:modified>
</cp:coreProperties>
</file>